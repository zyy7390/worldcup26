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5943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17384D"/>
                </a:solidFill>
                <a:latin typeface="Aptos"/>
              </a:rPr>
              <a:t>2026 FIFA World Cup Prediction</a:t>
            </a:r>
            <a:endParaRPr lang="en-US" sz="3400"/>
          </a:p>
        </p:txBody>
      </p:sp>
      <p:sp>
        <p:nvSpPr>
          <p:cNvPr id="4" name="TextBox 4"/>
          <p:cNvSpPr txBox="1"/>
          <p:nvPr/>
        </p:nvSpPr>
        <p:spPr>
          <a:xfrm>
            <a:off x="621792" y="1389888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5C6B73"/>
                </a:solidFill>
                <a:latin typeface="Aptos"/>
              </a:rPr>
              <a:t>Bracket visualization and things to watch</a:t>
            </a:r>
            <a:endParaRPr lang="en-US" sz="1800"/>
          </a:p>
        </p:txBody>
      </p:sp>
      <p:sp>
        <p:nvSpPr>
          <p:cNvPr id="5" name="TextBox 5"/>
          <p:cNvSpPr txBox="1"/>
          <p:nvPr/>
        </p:nvSpPr>
        <p:spPr>
          <a:xfrm>
            <a:off x="658368" y="2240280"/>
            <a:ext cx="3749039" cy="1463040"/>
          </a:xfrm>
          <a:prstGeom prst="rect">
            <a:avLst/>
          </a:prstGeom>
          <a:solidFill>
            <a:srgbClr val="17384D"/>
          </a:solidFill>
          <a:ln>
            <a:solidFill>
              <a:srgbClr val="17384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ptos"/>
              </a:rPr>
              <a:t>Champion Pick</a:t>
            </a:r>
            <a:endParaRPr lang="en-US" sz="3400"/>
          </a:p>
          <a:p>
            <a:pPr algn="l"/>
            <a:r>
              <a:rPr lang="en-US" sz="3400" b="1">
                <a:solidFill>
                  <a:srgbClr val="FFFFFF"/>
                </a:solidFill>
                <a:latin typeface="Aptos"/>
              </a:rPr>
              <a:t>Argentina</a:t>
            </a:r>
            <a:endParaRPr lang="en-US" sz="3400"/>
          </a:p>
        </p:txBody>
      </p:sp>
      <p:sp>
        <p:nvSpPr>
          <p:cNvPr id="6" name="TextBox 6"/>
          <p:cNvSpPr txBox="1"/>
          <p:nvPr/>
        </p:nvSpPr>
        <p:spPr>
          <a:xfrm>
            <a:off x="4709160" y="2240280"/>
            <a:ext cx="2926080" cy="1463040"/>
          </a:xfrm>
          <a:prstGeom prst="rect">
            <a:avLst/>
          </a:prstGeom>
          <a:solidFill>
            <a:srgbClr val="F7F7F7"/>
          </a:solidFill>
          <a:ln>
            <a:solidFill>
              <a:srgbClr val="D1D8D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600" b="1">
                <a:solidFill>
                  <a:srgbClr val="17384D"/>
                </a:solidFill>
                <a:latin typeface="Aptos"/>
              </a:rPr>
              <a:t>Runner-up</a:t>
            </a:r>
            <a:endParaRPr lang="en-US" sz="2600"/>
          </a:p>
          <a:p>
            <a:pPr algn="l"/>
            <a:r>
              <a:rPr lang="en-US" sz="2600" b="1">
                <a:solidFill>
                  <a:srgbClr val="17384D"/>
                </a:solidFill>
                <a:latin typeface="Aptos"/>
              </a:rPr>
              <a:t>France</a:t>
            </a:r>
            <a:endParaRPr lang="en-US" sz="2600"/>
          </a:p>
        </p:txBody>
      </p:sp>
      <p:sp>
        <p:nvSpPr>
          <p:cNvPr id="7" name="TextBox 7"/>
          <p:cNvSpPr txBox="1"/>
          <p:nvPr/>
        </p:nvSpPr>
        <p:spPr>
          <a:xfrm>
            <a:off x="7909560" y="2240280"/>
            <a:ext cx="2926080" cy="1463040"/>
          </a:xfrm>
          <a:prstGeom prst="rect">
            <a:avLst/>
          </a:prstGeom>
          <a:solidFill>
            <a:srgbClr val="F7F7F7"/>
          </a:solidFill>
          <a:ln>
            <a:solidFill>
              <a:srgbClr val="D1D8D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600" b="1">
                <a:solidFill>
                  <a:srgbClr val="17384D"/>
                </a:solidFill>
                <a:latin typeface="Aptos"/>
              </a:rPr>
              <a:t>Third Place</a:t>
            </a:r>
            <a:endParaRPr lang="en-US" sz="2600"/>
          </a:p>
          <a:p>
            <a:pPr algn="l"/>
            <a:r>
              <a:rPr lang="en-US" sz="2600" b="1">
                <a:solidFill>
                  <a:srgbClr val="17384D"/>
                </a:solidFill>
                <a:latin typeface="Aptos"/>
              </a:rPr>
              <a:t>Spain</a:t>
            </a:r>
            <a:endParaRPr lang="en-US" sz="2600"/>
          </a:p>
        </p:txBody>
      </p:sp>
      <p:sp>
        <p:nvSpPr>
          <p:cNvPr id="8" name="TextBox 8"/>
          <p:cNvSpPr txBox="1"/>
          <p:nvPr/>
        </p:nvSpPr>
        <p:spPr>
          <a:xfrm>
            <a:off x="658368" y="4251960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17384D"/>
                </a:solidFill>
                <a:latin typeface="Aptos"/>
              </a:rPr>
              <a:t>Live model through M100: direct SofaScore form and match stats, human tactical reads, plus July 12 Polymarket/Kalshi priors at 0.10 weight.</a:t>
            </a:r>
            <a:endParaRPr lang="en-US" sz="1600"/>
          </a:p>
        </p:txBody>
      </p:sp>
      <p:sp>
        <p:nvSpPr>
          <p:cNvPr id="9" name="TextBox 9"/>
          <p:cNvSpPr txBox="1"/>
          <p:nvPr/>
        </p:nvSpPr>
        <p:spPr>
          <a:xfrm>
            <a:off x="658368" y="60350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>
                <a:solidFill>
                  <a:srgbClr val="7A858B"/>
                </a:solidFill>
                <a:latin typeface="Aptos"/>
              </a:rPr>
              <a:t>Generated 2026-07-12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92608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Model Snapshot</a:t>
            </a:r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530352" y="841248"/>
            <a:ext cx="3886200" cy="4206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Live rating stack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FIFA-rank base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+ squad depth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+ direct SofaScore form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+ result signal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+ human tactical delta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+ 0.10 market prior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/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Semifinal probabilities also blend complete match-advance markets at 0.10 on the log-odds scale.</a:t>
            </a:r>
            <a:endParaRPr lang="en-US" sz="1400"/>
          </a:p>
        </p:txBody>
      </p:sp>
      <p:pic>
        <p:nvPicPr>
          <p:cNvPr id="5" name="Title contend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6812280" cy="379476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30352" y="57150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>
                <a:solidFill>
                  <a:srgbClr val="5C6B73"/>
                </a:solidFill>
                <a:latin typeface="Aptos"/>
              </a:rPr>
              <a:t>Semifinals: France over Spain (52.8%); Argentina over England (55.6%).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5603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Original Group Projection (Historical)</a:t>
            </a:r>
            <a:endParaRPr lang="en-US" sz="2400"/>
          </a:p>
        </p:txBody>
      </p:sp>
      <p:pic>
        <p:nvPicPr>
          <p:cNvPr id="4" name="Projected grou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749808"/>
            <a:ext cx="11384280" cy="5650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Original Best Third Projection (Historical)</a:t>
            </a:r>
            <a:endParaRPr lang="en-US" sz="2400"/>
          </a:p>
        </p:txBody>
      </p:sp>
      <p:pic>
        <p:nvPicPr>
          <p:cNvPr id="4" name="Best thir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32688"/>
            <a:ext cx="6629400" cy="329184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635240" y="987552"/>
            <a:ext cx="3703320" cy="3291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Why this matters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- Eight of twelve third-place teams advance.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- The exact groups that advance change the official Annex C bracket mapping.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- This model's third-place set is A, C, D, E, G, I, J, L.</a:t>
            </a:r>
            <a:endParaRPr lang="en-US" sz="1400"/>
          </a:p>
          <a:p>
            <a:pPr algn="l"/>
            <a:r>
              <a:rPr lang="en-US" sz="1400">
                <a:solidFill>
                  <a:srgbClr val="17384D"/>
                </a:solidFill>
                <a:latin typeface="Aptos"/>
              </a:rPr>
              <a:t>- Egypt, Algeria, Cote d'Ivoire, Australia, Norway, and Panama are the hinge teams.</a:t>
            </a:r>
            <a:endParaRPr lang="en-US" sz="1400"/>
          </a:p>
        </p:txBody>
      </p:sp>
      <p:sp>
        <p:nvSpPr>
          <p:cNvPr id="6" name="TextBox 6"/>
          <p:cNvSpPr txBox="1"/>
          <p:nvPr/>
        </p:nvSpPr>
        <p:spPr>
          <a:xfrm>
            <a:off x="658368" y="484632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5C6B73"/>
                </a:solidFill>
                <a:latin typeface="Aptos"/>
              </a:rPr>
              <a:t>The third-place pool is the biggest bracket uncertainty: one extra group-stage goal can redraw an entire route.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7432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Round Of 32 Matchups</a:t>
            </a:r>
            <a:endParaRPr lang="en-US" sz="2400"/>
          </a:p>
        </p:txBody>
      </p:sp>
      <p:pic>
        <p:nvPicPr>
          <p:cNvPr id="4" name="Round of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786384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pic>
        <p:nvPicPr>
          <p:cNvPr id="3" name="Brack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92608"/>
            <a:ext cx="11795760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02920" y="292608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Final Four</a:t>
            </a:r>
            <a:endParaRPr lang="en-US" sz="2400"/>
          </a:p>
        </p:txBody>
      </p:sp>
      <p:pic>
        <p:nvPicPr>
          <p:cNvPr id="4" name="Final fo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87552"/>
            <a:ext cx="9692640" cy="338328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77240" y="48920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7384D"/>
                </a:solidFill>
                <a:latin typeface="Aptos"/>
              </a:rPr>
              <a:t>Projected route: France beats Spain, Argentina beats England, then Argentina beats France in the final. Spain takes third place.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48640" y="320040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Things To Watch</a:t>
            </a:r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731520" y="1078992"/>
            <a:ext cx="5166360" cy="4480560"/>
          </a:xfrm>
          <a:prstGeom prst="rect">
            <a:avLst/>
          </a:prstGeom>
          <a:solidFill>
            <a:srgbClr val="F7F7F7"/>
          </a:solidFill>
          <a:ln>
            <a:solidFill>
              <a:srgbClr val="D1D8D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Semifinal variables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France pace versus Spain control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Spain finishing without a classic No. 9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England's adversity management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Argentina's defensive vulnerability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Extra-time fatigue and recovery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Penalty and refereeing variance</a:t>
            </a:r>
            <a:endParaRPr lang="en-US" sz="1700"/>
          </a:p>
        </p:txBody>
      </p:sp>
      <p:sp>
        <p:nvSpPr>
          <p:cNvPr id="5" name="TextBox 5"/>
          <p:cNvSpPr txBox="1"/>
          <p:nvPr/>
        </p:nvSpPr>
        <p:spPr>
          <a:xfrm>
            <a:off x="6309360" y="1078992"/>
            <a:ext cx="5166360" cy="4480560"/>
          </a:xfrm>
          <a:prstGeom prst="rect">
            <a:avLst/>
          </a:prstGeom>
          <a:solidFill>
            <a:srgbClr val="F7F7F7"/>
          </a:solidFill>
          <a:ln>
            <a:solidFill>
              <a:srgbClr val="D1D8D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Player-form variables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Messi workload after long matches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Mbappe/Dembele chance creation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Bellingham's four knockout goals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Kane's clutch finishing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Almada and Lopez bench options</a:t>
            </a:r>
            <a:endParaRPr lang="en-US" sz="1700"/>
          </a:p>
          <a:p>
            <a:pPr algn="l"/>
            <a:r>
              <a:rPr lang="en-US" sz="1700">
                <a:solidFill>
                  <a:srgbClr val="17384D"/>
                </a:solidFill>
                <a:latin typeface="Aptos"/>
              </a:rPr>
              <a:t>- Goalkeeper form under pressure</a:t>
            </a:r>
            <a:endParaRPr lang="en-US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48640" y="320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How To Refresh The Scenario</a:t>
            </a:r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731520" y="1051560"/>
            <a:ext cx="10698480" cy="274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17384D"/>
                </a:solidFill>
                <a:latin typeface="Aptos"/>
              </a:rPr>
              <a:t>1. Lock newly completed matches in the model source.</a:t>
            </a:r>
            <a:endParaRPr lang="en-US" sz="1800"/>
          </a:p>
          <a:p>
            <a:pPr algn="l"/>
            <a:r>
              <a:rPr lang="en-US" sz="1800">
                <a:solidFill>
                  <a:srgbClr val="17384D"/>
                </a:solidFill>
                <a:latin typeface="Aptos"/>
              </a:rPr>
              <a:t>2. Run the SofaScore and prediction-market collectors.</a:t>
            </a:r>
            <a:endParaRPr lang="en-US" sz="1800"/>
          </a:p>
          <a:p>
            <a:pPr algn="l"/>
            <a:r>
              <a:rPr lang="en-US" sz="1800">
                <a:solidFill>
                  <a:srgbClr val="17384D"/>
                </a:solidFill>
                <a:latin typeface="Aptos"/>
              </a:rPr>
              <a:t>3. Regenerate and execute the notebook.</a:t>
            </a:r>
            <a:endParaRPr lang="en-US" sz="1800"/>
          </a:p>
          <a:p>
            <a:pPr algn="l"/>
            <a:r>
              <a:rPr lang="en-US" sz="1800">
                <a:solidFill>
                  <a:srgbClr val="17384D"/>
                </a:solidFill>
                <a:latin typeface="Aptos"/>
              </a:rPr>
              <a:t>4. Rebuild tables, site, README assets, and this deck from the executed outputs.</a:t>
            </a:r>
            <a:endParaRPr lang="en-US" sz="1800"/>
          </a:p>
        </p:txBody>
      </p:sp>
      <p:sp>
        <p:nvSpPr>
          <p:cNvPr id="5" name="TextBox 5"/>
          <p:cNvSpPr txBox="1"/>
          <p:nvPr/>
        </p:nvSpPr>
        <p:spPr>
          <a:xfrm>
            <a:off x="731520" y="4160520"/>
            <a:ext cx="10652760" cy="1005840"/>
          </a:xfrm>
          <a:prstGeom prst="rect">
            <a:avLst/>
          </a:prstGeom>
          <a:solidFill>
            <a:srgbClr val="17384D"/>
          </a:solidFill>
          <a:ln>
            <a:solidFill>
              <a:srgbClr val="17384D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Current coverage: 100 completed matches with direct player ratings, minutes, team statistics, and shot maps.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48640" y="3200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17384D"/>
                </a:solidFill>
                <a:latin typeface="Aptos"/>
              </a:rPr>
              <a:t>Sources And Caveats</a:t>
            </a:r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731520" y="960120"/>
            <a:ext cx="1088136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Sources used in the notebook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FIFA schedule and bracket structure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AP, FIFA, Guardian, and Opta match reporting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Direct SofaScore lineups, ratings, team stats, and shot maps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July 12 Polymarket and Kalshi public APIs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Transfermarkt value snapshot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/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Caveats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Human tactical reads are explicit and lightly weighted.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Market prices are snapshots, not truth.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Transfer values and ticket prices can move.</a:t>
            </a:r>
            <a:endParaRPr lang="en-US" sz="1500"/>
          </a:p>
          <a:p>
            <a:pPr algn="l"/>
            <a:r>
              <a:rPr lang="en-US" sz="1500">
                <a:solidFill>
                  <a:srgbClr val="17384D"/>
                </a:solidFill>
                <a:latin typeface="Aptos"/>
              </a:rPr>
              <a:t>- Semifinal calls remain close and sensitive to availability.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ldCup26">
  <a:themeElements>
    <a:clrScheme name="WorldCup26">
      <a:dk1>
        <a:srgbClr val="17384D"/>
      </a:dk1>
      <a:lt1>
        <a:srgbClr val="FFFFFF"/>
      </a:lt1>
      <a:dk2>
        <a:srgbClr val="245B7A"/>
      </a:dk2>
      <a:lt2>
        <a:srgbClr val="F7F7F7"/>
      </a:lt2>
      <a:accent1>
        <a:srgbClr val="17384D"/>
      </a:accent1>
      <a:accent2>
        <a:srgbClr val="D8A23A"/>
      </a:accent2>
      <a:accent3>
        <a:srgbClr val="5B8C5A"/>
      </a:accent3>
      <a:accent4>
        <a:srgbClr val="D98859"/>
      </a:accent4>
      <a:accent5>
        <a:srgbClr val="7AA6C2"/>
      </a:accent5>
      <a:accent6>
        <a:srgbClr val="5C6B73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WorldCup26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