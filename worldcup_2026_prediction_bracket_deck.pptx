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5943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17384D"/>
                </a:solidFill>
                <a:latin typeface="Aptos"/>
              </a:rPr>
              <a:t>2026 FIFA World Cup Prediction</a:t>
            </a:r>
            <a:endParaRPr lang="en-US" sz="3400"/>
          </a:p>
        </p:txBody>
      </p:sp>
      <p:sp>
        <p:nvSpPr>
          <p:cNvPr id="4" name="TextBox 4"/>
          <p:cNvSpPr txBox="1"/>
          <p:nvPr/>
        </p:nvSpPr>
        <p:spPr>
          <a:xfrm>
            <a:off x="621792" y="1389888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5C6B73"/>
                </a:solidFill>
                <a:latin typeface="Aptos"/>
              </a:rPr>
              <a:t>Bracket visualization and things to watch</a:t>
            </a:r>
            <a:endParaRPr lang="en-US" sz="1800"/>
          </a:p>
        </p:txBody>
      </p:sp>
      <p:sp>
        <p:nvSpPr>
          <p:cNvPr id="5" name="TextBox 5"/>
          <p:cNvSpPr txBox="1"/>
          <p:nvPr/>
        </p:nvSpPr>
        <p:spPr>
          <a:xfrm>
            <a:off x="658368" y="2240280"/>
            <a:ext cx="3749039" cy="1463040"/>
          </a:xfrm>
          <a:prstGeom prst="rect">
            <a:avLst/>
          </a:prstGeom>
          <a:solidFill>
            <a:srgbClr val="17384D"/>
          </a:solidFill>
          <a:ln>
            <a:solidFill>
              <a:srgbClr val="17384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ptos"/>
              </a:rPr>
              <a:t>Champion Pick</a:t>
            </a:r>
            <a:endParaRPr lang="en-US" sz="3400"/>
          </a:p>
          <a:p>
            <a:pPr algn="l"/>
            <a:r>
              <a:rPr lang="en-US" sz="3400" b="1">
                <a:solidFill>
                  <a:srgbClr val="FFFFFF"/>
                </a:solidFill>
                <a:latin typeface="Aptos"/>
              </a:rPr>
              <a:t>France</a:t>
            </a:r>
            <a:endParaRPr lang="en-US" sz="3400"/>
          </a:p>
        </p:txBody>
      </p:sp>
      <p:sp>
        <p:nvSpPr>
          <p:cNvPr id="6" name="TextBox 6"/>
          <p:cNvSpPr txBox="1"/>
          <p:nvPr/>
        </p:nvSpPr>
        <p:spPr>
          <a:xfrm>
            <a:off x="4709160" y="2240280"/>
            <a:ext cx="2926080" cy="146304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Runner-up</a:t>
            </a:r>
            <a:endParaRPr lang="en-US" sz="2600"/>
          </a:p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Argentina</a:t>
            </a:r>
            <a:endParaRPr lang="en-US" sz="2600"/>
          </a:p>
        </p:txBody>
      </p:sp>
      <p:sp>
        <p:nvSpPr>
          <p:cNvPr id="7" name="TextBox 7"/>
          <p:cNvSpPr txBox="1"/>
          <p:nvPr/>
        </p:nvSpPr>
        <p:spPr>
          <a:xfrm>
            <a:off x="7909560" y="2240280"/>
            <a:ext cx="2926080" cy="146304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Third Place</a:t>
            </a:r>
            <a:endParaRPr lang="en-US" sz="2600"/>
          </a:p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Spain</a:t>
            </a:r>
            <a:endParaRPr lang="en-US" sz="2600"/>
          </a:p>
        </p:txBody>
      </p:sp>
      <p:sp>
        <p:nvSpPr>
          <p:cNvPr id="8" name="TextBox 8"/>
          <p:cNvSpPr txBox="1"/>
          <p:nvPr/>
        </p:nvSpPr>
        <p:spPr>
          <a:xfrm>
            <a:off x="658368" y="425196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17384D"/>
                </a:solidFill>
                <a:latin typeface="Aptos"/>
              </a:rPr>
              <a:t>Built from the current notebook model: FIFA rank, host bonus, squad-depth bucket, and player-form modifier. No new API fetches were used.</a:t>
            </a:r>
            <a:endParaRPr lang="en-US" sz="1600"/>
          </a:p>
        </p:txBody>
      </p:sp>
      <p:sp>
        <p:nvSpPr>
          <p:cNvPr id="9" name="TextBox 9"/>
          <p:cNvSpPr txBox="1"/>
          <p:nvPr/>
        </p:nvSpPr>
        <p:spPr>
          <a:xfrm>
            <a:off x="658368" y="60350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>
                <a:solidFill>
                  <a:srgbClr val="7A858B"/>
                </a:solidFill>
                <a:latin typeface="Aptos"/>
              </a:rPr>
              <a:t>Generated 2026-04-30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92608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Model Snapshot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530352" y="841248"/>
            <a:ext cx="3886200" cy="4206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Rating formula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100 - 0.8 x FIFA rank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host bonus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player-form modifier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squad-depth modifier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/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Knockout probability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logistic((rating A - rating B) / 8)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/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Transparent scenario model, not a betting market.</a:t>
            </a:r>
            <a:endParaRPr lang="en-US" sz="1400"/>
          </a:p>
        </p:txBody>
      </p:sp>
      <p:pic>
        <p:nvPicPr>
          <p:cNvPr id="5" name="Title contend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6812280" cy="379476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30352" y="57150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>
                <a:solidFill>
                  <a:srgbClr val="5C6B73"/>
                </a:solidFill>
                <a:latin typeface="Aptos"/>
              </a:rPr>
              <a:t>Top-tier calls are close: France over Spain and Argentina over England are both narrow semifinal picks.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Group Stage Projection</a:t>
            </a:r>
            <a:endParaRPr lang="en-US" sz="2400"/>
          </a:p>
        </p:txBody>
      </p:sp>
      <p:pic>
        <p:nvPicPr>
          <p:cNvPr id="4" name="Projected grou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749808"/>
            <a:ext cx="11384280" cy="5650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92608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Best Third-Place Qualifiers</a:t>
            </a:r>
            <a:endParaRPr lang="en-US" sz="2400"/>
          </a:p>
        </p:txBody>
      </p:sp>
      <p:pic>
        <p:nvPicPr>
          <p:cNvPr id="4" name="Best thir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32688"/>
            <a:ext cx="6629400" cy="32918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35240" y="987552"/>
            <a:ext cx="3703320" cy="3291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Why this matters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Eight of twelve third-place teams advance.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The exact groups that advance change the official Annex C bracket mapping.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This model's third-place set is A, C, D, E, G, I, J, L.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Egypt, Algeria, Cote d'Ivoire, Australia, Norway, and Panama are the hinge teams.</a:t>
            </a:r>
            <a:endParaRPr lang="en-US" sz="1400"/>
          </a:p>
        </p:txBody>
      </p:sp>
      <p:sp>
        <p:nvSpPr>
          <p:cNvPr id="6" name="TextBox 6"/>
          <p:cNvSpPr txBox="1"/>
          <p:nvPr/>
        </p:nvSpPr>
        <p:spPr>
          <a:xfrm>
            <a:off x="658368" y="484632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5C6B73"/>
                </a:solidFill>
                <a:latin typeface="Aptos"/>
              </a:rPr>
              <a:t>The third-place pool is the biggest bracket uncertainty: one extra group-stage goal can redraw an entire route.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7432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Round Of 32 Matchups</a:t>
            </a:r>
            <a:endParaRPr lang="en-US" sz="2400"/>
          </a:p>
        </p:txBody>
      </p:sp>
      <p:pic>
        <p:nvPicPr>
          <p:cNvPr id="4" name="Round of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786384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pic>
        <p:nvPicPr>
          <p:cNvPr id="3" name="Brack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92608"/>
            <a:ext cx="11795760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92608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Final Four</a:t>
            </a:r>
            <a:endParaRPr lang="en-US" sz="2400"/>
          </a:p>
        </p:txBody>
      </p:sp>
      <p:pic>
        <p:nvPicPr>
          <p:cNvPr id="4" name="Final f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9692640" cy="33832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77240" y="48920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384D"/>
                </a:solidFill>
                <a:latin typeface="Aptos"/>
              </a:rPr>
              <a:t>Projected route: France beats Spain, Argentina beats England, then France beats Argentina in the final. Spain edges England for third place.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48640" y="32004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Things To Watch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731520" y="1078992"/>
            <a:ext cx="5166360" cy="448056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Tournament variables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Final squads and injuries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June 10 FIFA ranking update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Host-continent travel and climate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Third-place mapping volatility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Penalty shootout variance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Refereeing and game-state effects</a:t>
            </a:r>
            <a:endParaRPr lang="en-US" sz="1700"/>
          </a:p>
        </p:txBody>
      </p:sp>
      <p:sp>
        <p:nvSpPr>
          <p:cNvPr id="5" name="TextBox 5"/>
          <p:cNvSpPr txBox="1"/>
          <p:nvPr/>
        </p:nvSpPr>
        <p:spPr>
          <a:xfrm>
            <a:off x="6309360" y="1078992"/>
            <a:ext cx="5166360" cy="448056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Player-form variables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Rodri/Spain availability and minutes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Messi/Argentina workload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Mbappe and France attacking form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Kane/Bellingham/Saka finishing output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Haaland/Odegaard effect on Norway's upset risk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Goalkeeper form in knockout games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4864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How To Refresh The Scenario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731520" y="1051560"/>
            <a:ext cx="1069848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1. Update FIFA rankings when the June 2026 list is published.</a:t>
            </a:r>
            <a:endParaRPr lang="en-US" sz="1800"/>
          </a:p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2. Refresh the player-form modifier after final squads, injuries, and late club matches.</a:t>
            </a:r>
            <a:endParaRPr lang="en-US" sz="1800"/>
          </a:p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3. Re-run the notebook cells from top to bottom.</a:t>
            </a:r>
            <a:endParaRPr lang="en-US" sz="1800"/>
          </a:p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4. Rebuild this deck from the current notebook outputs if the bracket path changes.</a:t>
            </a:r>
            <a:endParaRPr lang="en-US" sz="1800"/>
          </a:p>
        </p:txBody>
      </p:sp>
      <p:sp>
        <p:nvSpPr>
          <p:cNvPr id="5" name="TextBox 5"/>
          <p:cNvSpPr txBox="1"/>
          <p:nvPr/>
        </p:nvSpPr>
        <p:spPr>
          <a:xfrm>
            <a:off x="731520" y="4160520"/>
            <a:ext cx="10652760" cy="1005840"/>
          </a:xfrm>
          <a:prstGeom prst="rect">
            <a:avLst/>
          </a:prstGeom>
          <a:solidFill>
            <a:srgbClr val="17384D"/>
          </a:solidFill>
          <a:ln>
            <a:solidFill>
              <a:srgbClr val="17384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Best next enhancement: add a player-form input table for recent ratings, minutes, goals/assists, defensive actions, goalkeeper saves, and injury status.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Sources And Caveats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731520" y="960120"/>
            <a:ext cx="1088136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Sources used in the notebook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FIFA men's ranking page, April 2026 update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ESPN April 2026 FIFA ranking table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FIFA qualified-teams article and official schedule article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Official bracket template summarized via the 2026 knockout-stage reference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DR Congo playoff placement reporting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/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Caveats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Player-form modifiers are transparent subjective inputs.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Exact FIFA points were not used for every team.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Third-place qualification and mapping are highly sensitive.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Final squads and injuries may materially change the bracket.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ldCup26">
  <a:themeElements>
    <a:clrScheme name="WorldCup26">
      <a:dk1>
        <a:srgbClr val="17384D"/>
      </a:dk1>
      <a:lt1>
        <a:srgbClr val="FFFFFF"/>
      </a:lt1>
      <a:dk2>
        <a:srgbClr val="245B7A"/>
      </a:dk2>
      <a:lt2>
        <a:srgbClr val="F7F7F7"/>
      </a:lt2>
      <a:accent1>
        <a:srgbClr val="17384D"/>
      </a:accent1>
      <a:accent2>
        <a:srgbClr val="D8A23A"/>
      </a:accent2>
      <a:accent3>
        <a:srgbClr val="5B8C5A"/>
      </a:accent3>
      <a:accent4>
        <a:srgbClr val="D98859"/>
      </a:accent4>
      <a:accent5>
        <a:srgbClr val="7AA6C2"/>
      </a:accent5>
      <a:accent6>
        <a:srgbClr val="5C6B73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WorldCup26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